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82"/>
  </p:normalViewPr>
  <p:slideViewPr>
    <p:cSldViewPr snapToGrid="0" snapToObjects="1">
      <p:cViewPr varScale="1">
        <p:scale>
          <a:sx n="119" d="100"/>
          <a:sy n="119" d="100"/>
        </p:scale>
        <p:origin x="2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5001" TargetMode="External"/><Relationship Id="rId2" Type="http://schemas.openxmlformats.org/officeDocument/2006/relationships/hyperlink" Target="http://localhost:8000/docs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localhost:300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00/health" TargetMode="External"/><Relationship Id="rId2" Type="http://schemas.openxmlformats.org/officeDocument/2006/relationships/hyperlink" Target="http://localhost:8000/docs#/default/predict_predict_post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://localhost:8501" TargetMode="External"/><Relationship Id="rId4" Type="http://schemas.openxmlformats.org/officeDocument/2006/relationships/hyperlink" Target="http://localhost:8000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localhost:5001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localhost:3005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00/docs" TargetMode="External"/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://localhost:3005" TargetMode="External"/><Relationship Id="rId4" Type="http://schemas.openxmlformats.org/officeDocument/2006/relationships/hyperlink" Target="http://localhost:5001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62872" y="0"/>
            <a:ext cx="2926080" cy="6858000"/>
          </a:xfrm>
          <a:prstGeom prst="rect">
            <a:avLst/>
          </a:prstGeom>
          <a:solidFill>
            <a:srgbClr val="162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566160"/>
            <a:ext cx="12188952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VANIER COLLEGE  ·  420-976-VA  · 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AG News Topic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FDBFF"/>
                </a:solidFill>
              </a:rPr>
              <a:t>End-to-End MLOps Pipeline  ·  Final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99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3C5FD"/>
                </a:solidFill>
              </a:rPr>
              <a:t>Model Training  ·  API Deployment  ·  Versioning &amp; Monitoring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2377440" cy="457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Training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794760"/>
            <a:ext cx="237744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3822191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API Deployment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794760"/>
            <a:ext cx="2377440" cy="4572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3822191"/>
            <a:ext cx="2377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MLOps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Rahime Nacak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47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</a:rPr>
              <a:t>LEA.EU — Artificial Intelligence &amp;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98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October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420-976-VA  ·  Rahime Nacak  ·  Vanier College  ·  Fall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310128"/>
            <a:ext cx="12188952" cy="27432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Model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FDBFF"/>
                </a:solidFill>
              </a:rPr>
              <a:t>Dataset Exploration, Text Preprocessing, and Baseline 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7498079" cy="4023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968496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Dataset Overview — AG News 4-class topic benchmark, two versioned corpora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07408"/>
            <a:ext cx="7498079" cy="4023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4398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Preprocessing Pipeline — TF-IDF vectorization and feature configuration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882896"/>
            <a:ext cx="7498079" cy="4023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919472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 Training &amp; Results — Classification metrics, drift impact, retraining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58384"/>
            <a:ext cx="7498079" cy="4023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 Performance Verification — Logistic Regression vs XGBoost comparison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Model Training  ·  420-976-VA  ·  Rahime Nacak  ·  Vanier College  ·  Fall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1. Dataset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AG News Topic Classification · 4 Target Categories · Versioned Subsets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Model Training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394960" cy="4251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5394960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4904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Dataset v1.0.0 — Baseline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6596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Source: AG News benchmark corpus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8,000 total samples across balanced classes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2,000 samples per category (Uniform distribution)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Categories: World, Sports, Business, Sci/Tech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Language: English news headlines &amp; descriptions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Primary feature: Unstructured article text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Target variable: 4-class topic label (0 to 3)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Tracked with SHA-256 digest hashing via MLflow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463040"/>
            <a:ext cx="5852160" cy="4251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5852160" cy="438912"/>
          </a:xfrm>
          <a:prstGeom prst="rect">
            <a:avLst/>
          </a:prstGeom>
          <a:solidFill>
            <a:srgbClr val="C94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14904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Dataset v2.0.0 — Drift Evaluation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965960"/>
            <a:ext cx="5577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Covariate shift: Integration of contemporary terminology:</a:t>
            </a:r>
          </a:p>
          <a:p>
            <a:pPr lvl="1" algn="l">
              <a:spcAft>
                <a:spcPts val="300"/>
              </a:spcAft>
            </a:pPr>
            <a:r>
              <a:rPr sz="1250">
                <a:solidFill>
                  <a:srgbClr val="1F2937"/>
                </a:solidFill>
              </a:rPr>
              <a:t>   – Generative AI, Large Language Models, Cloud GPUs</a:t>
            </a:r>
          </a:p>
          <a:p>
            <a:pPr lvl="1" algn="l">
              <a:spcAft>
                <a:spcPts val="300"/>
              </a:spcAft>
            </a:pPr>
            <a:r>
              <a:rPr sz="1250">
                <a:solidFill>
                  <a:srgbClr val="1F2937"/>
                </a:solidFill>
              </a:rPr>
              <a:t>   – Crypto Assets, Regulatory Actions, VAR refereeing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Class distribution imbalance introduced:</a:t>
            </a:r>
          </a:p>
          <a:p>
            <a:pPr lvl="1" algn="l">
              <a:spcAft>
                <a:spcPts val="300"/>
              </a:spcAft>
            </a:pPr>
            <a:r>
              <a:rPr sz="1250">
                <a:solidFill>
                  <a:srgbClr val="1F2937"/>
                </a:solidFill>
              </a:rPr>
              <a:t>   – Sci/Tech increased to 40% (formerly 25%)</a:t>
            </a:r>
          </a:p>
          <a:p>
            <a:pPr lvl="1" algn="l">
              <a:spcAft>
                <a:spcPts val="300"/>
              </a:spcAft>
            </a:pPr>
            <a:r>
              <a:rPr sz="1250">
                <a:solidFill>
                  <a:srgbClr val="1F2937"/>
                </a:solidFill>
              </a:rPr>
              <a:t>   – Business shifted to 30% (formerly 25%)</a:t>
            </a:r>
          </a:p>
          <a:p>
            <a:pPr lvl="1" algn="l">
              <a:spcAft>
                <a:spcPts val="300"/>
              </a:spcAft>
            </a:pPr>
            <a:r>
              <a:rPr sz="1250">
                <a:solidFill>
                  <a:srgbClr val="1F2937"/>
                </a:solidFill>
              </a:rPr>
              <a:t>   – Sports and World reduced to 15% each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</a:rPr>
              <a:t>• Used to evaluate model robustness and trigger retraining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33872"/>
            <a:ext cx="265176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9070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Samples (v1)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5833872"/>
            <a:ext cx="2651760" cy="65836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6120" y="5907024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4 Classes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6455664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Target Categories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5833872"/>
            <a:ext cx="2834640" cy="658368"/>
          </a:xfrm>
          <a:prstGeom prst="rect">
            <a:avLst/>
          </a:prstGeom>
          <a:solidFill>
            <a:srgbClr val="C94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0" y="59070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v1 &amp; 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645566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Versioned Subsets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5833872"/>
            <a:ext cx="2834640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06840" y="59070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MLflow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645566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Dataset Artifact Tracking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2. Preprocessing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Feature Extraction · Scikit-Learn Pipeline · Model Configuration Tuning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Model Training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4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3796" y="1554480"/>
            <a:ext cx="1920240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" y="16276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Raw Text
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" y="2121408"/>
            <a:ext cx="1920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AG News news
article strings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4036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4076" y="1554480"/>
            <a:ext cx="1920240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94076" y="16276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Text
Cleaning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4076" y="2121408"/>
            <a:ext cx="1920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Lowercase, strip,
token cleaning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4316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34356" y="1554480"/>
            <a:ext cx="1920240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34356" y="16276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TF-IDF
Vectorizer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4356" y="2121408"/>
            <a:ext cx="1920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(1,2) N-Grams
Max 5,000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4596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74636" y="1554480"/>
            <a:ext cx="192024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74636" y="16276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Logistic
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4636" y="2121408"/>
            <a:ext cx="1920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L-BFGS solver
C=1.0 regularized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4876" y="1920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4916" y="1554480"/>
            <a:ext cx="192024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14916" y="162763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Predicted
Category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916" y="2121408"/>
            <a:ext cx="1920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World / Sports
Business / Sci-Tech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9443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3A8A"/>
                </a:solidFill>
              </a:rPr>
              <a:t>Hyperparameter Tuning: Baseline (v1) vs Retrained (v2)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310128"/>
            <a:ext cx="11365992" cy="36576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" y="3364992"/>
            <a:ext cx="3200400" cy="32918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339242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Pipeline Parameter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364992"/>
            <a:ext cx="3749039" cy="32918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794760" y="3392424"/>
            <a:ext cx="3611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 v1 (Baseline)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3364992"/>
            <a:ext cx="4297680" cy="329184"/>
          </a:xfrm>
          <a:prstGeom prst="rect">
            <a:avLst/>
          </a:prstGeom>
          <a:solidFill>
            <a:srgbClr val="C94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89519" y="3392424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 v2 (Retrained)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730752"/>
            <a:ext cx="320040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703320" y="3730752"/>
            <a:ext cx="37490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98079" y="3730752"/>
            <a:ext cx="429768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37856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Max TF-IDF Features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378561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785616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8,000 (Expanded vocabulary)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06908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703320" y="4069080"/>
            <a:ext cx="374903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498079" y="4069080"/>
            <a:ext cx="4297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412394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N-Gram 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4760" y="41239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(1, 2)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412394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(1, 3) (Includes trigrams)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407408"/>
            <a:ext cx="320040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703320" y="4407408"/>
            <a:ext cx="37490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498079" y="4407408"/>
            <a:ext cx="429768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44622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Sublinear Term Frequency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46227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Standard TF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4462272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Sublinear TF enabled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745736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703320" y="4745736"/>
            <a:ext cx="374903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498079" y="4745736"/>
            <a:ext cx="4297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48640" y="480060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Regularization Parameter (C)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4760" y="480060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1.0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80060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2.5 (Less smoothing)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084064"/>
            <a:ext cx="320040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703320" y="5084064"/>
            <a:ext cx="37490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498079" y="5084064"/>
            <a:ext cx="429768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48640" y="51389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Solver Iterations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513892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1,000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138928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1,500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5422392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703320" y="5422392"/>
            <a:ext cx="3749039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498079" y="5422392"/>
            <a:ext cx="4297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47725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Class Weighting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547725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Uniform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89520" y="5477256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Balanced (Inverse frequency)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760720"/>
            <a:ext cx="320040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703320" y="5760720"/>
            <a:ext cx="37490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498079" y="5760720"/>
            <a:ext cx="429768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8640" y="581558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</a:rPr>
              <a:t>Training Set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94760" y="581558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D4ED8"/>
                </a:solidFill>
              </a:rPr>
              <a:t>Dataset v1.0.0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89520" y="581558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4A29"/>
                </a:solidFill>
              </a:rPr>
              <a:t>Dataset v2.0.0 (Updated)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3. Model Training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Classification Metrics · Drift Impact · Performance 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Model Training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3657600" cy="1463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Model v1 on Dataset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89.31%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Macro F1: 89.26%  ·  Baseline Benchmark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463040"/>
            <a:ext cx="3657600" cy="14630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4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Model v1 on Dataset 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1828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95.06%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514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Macro F1: 95.17%  ·  Under Drift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463040"/>
            <a:ext cx="3657600" cy="1463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Model v2 on Dataset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828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95.69%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514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Macro F1: 95.41%  ·  Retrained Production (+0.63%)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00" cy="33832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063240"/>
            <a:ext cx="548640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0906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MLflow Experiment Tracking Summary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52044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55701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</a:rPr>
              <a:t>Baseline Run (v1)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58184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LogisticRegression, TF-IDF 5k, C=1.0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557016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Acc: 89.31% | F1: 89.26%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087368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1239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</a:rPr>
              <a:t>Drift Evaluation (v1)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251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Model v1 evaluated on drifted v2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412394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Acc: 95.06% | F1: 95.17% (Shifted)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654296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46908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</a:rPr>
              <a:t>Retrained Run (v2)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89204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LogisticRegression, Sublinear 8k, C=2.5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690872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Acc: 95.69% | F1: 95.41% (Optimal)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21224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525780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</a:rPr>
              <a:t>Drift Indicators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45896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Population Stability Index (PSI)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5257800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PSI = 0.1818 | Vocab Shift 24.3%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788152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582472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D4ED8"/>
                </a:solidFill>
              </a:rPr>
              <a:t>Lifecycle Stage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02589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v1: Archived_Baseline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5824728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v2: Production Candidate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3063240"/>
            <a:ext cx="56235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model_comparison_drift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54680"/>
            <a:ext cx="54406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4. Model Performance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Cross-referencing validation and test metrics between presentation and notebook output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Model Training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645920"/>
            <a:ext cx="512064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1700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Logistic Regression (Baseline)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240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Validation Accuracy / 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E3A8A"/>
                </a:solidFill>
              </a:rPr>
              <a:t>88.33% / 88.28%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Final Test Accuracy /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65F46"/>
                </a:solidFill>
              </a:rPr>
              <a:t>88.50% / 88.47%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89120"/>
            <a:ext cx="47548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62272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• TF-IDF Vectorizer with 5,000 max features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• Consistent performance across validation &amp; test sets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• Selected as baseline for REST API deployment and MLOps monitoring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5120640" cy="411480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1645920"/>
            <a:ext cx="5120640" cy="411480"/>
          </a:xfrm>
          <a:prstGeom prst="rect">
            <a:avLst/>
          </a:prstGeom>
          <a:solidFill>
            <a:srgbClr val="2B5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7007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XGBoost (Advanced Comparison)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240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Validation Accuracy / F1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60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</a:rPr>
              <a:t>82.25% / 82.22%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5C8F"/>
                </a:solidFill>
              </a:rPr>
              <a:t>Key Empirical Observation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611880"/>
            <a:ext cx="47548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37033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• Logistic Regression outperforms XGBoost by +6.08% on sparse TF-IDF text features.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• High-dimensional sparse matrices favor linear decision boundaries over tree splits.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• XGBoost incurs substantially higher inference latency and memory footprint.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• Empirical justification for linear model selection in latency-critical MLOps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310128"/>
            <a:ext cx="12188952" cy="27432"/>
          </a:xfrm>
          <a:prstGeom prst="rect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API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A7F3D0"/>
                </a:solidFill>
              </a:rPr>
              <a:t>Containerization, REST Service Architecture, and Endpoint Contracts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7498079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968496"/>
            <a:ext cx="7223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Deployment Architecture — FastAPI REST server, Docker, multi-service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98848"/>
            <a:ext cx="7498079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535424"/>
            <a:ext cx="7223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Interface for Model Invocation — Swagger UI, Pydantic schemas, batch endpoints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API Deployment  ·  420-976-VA  ·  Rahime Nacak  ·  Vanier College  ·  Fall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4. Deployment Architecture (Docker)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FastAPI REST API · Docker Compose · Multi-Service Isolation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API Deployment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1828800" cy="9144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600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Client Applications
(cURL / Web UI)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7373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</a:rPr>
              <a:t>POST /predict
GET /health
GET /docs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8296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5F4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760" y="1463040"/>
            <a:ext cx="2286000" cy="3749039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0" y="1508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Container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8288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FastAPI
server.py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5146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POST /predict: Text topic 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78892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GET /health: Model readiness 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06324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GET /: Responsive Jinja2 Web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3756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Pydantic schema validation &amp;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361188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Outputs full 4-class probabilities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38862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High-throughput Uvicorn ASGI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9194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hlinkClick r:id="rId2"/>
              </a:rPr>
              <a:t>Port 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8192" y="187451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5F46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463040"/>
            <a:ext cx="2194560" cy="1828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53619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hlinkClick r:id="rId3"/>
              </a:rPr>
              <a:t>MLflow
Tracking 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148840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</a:rPr>
              <a:t>• Run metadata
• Model registry
• Artifact store
• Port 5001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429000"/>
            <a:ext cx="2194560" cy="914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493008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SQLite Store
metrics_export.sqlite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80560"/>
            <a:ext cx="2194560" cy="73152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hlinkClick r:id="rId4"/>
              </a:rPr>
              <a:t>Grafana Dashboard
Port 3005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3192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43708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6C00"/>
                </a:solidFill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1463040"/>
            <a:ext cx="3154680" cy="3749039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1508760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docker-compose.yml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1874519"/>
            <a:ext cx="3063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950"/>
                </a:solidFill>
              </a:rPr>
              <a:t>services:
  app:
    build: .
    ports:
      - "8501:8501"
  mlflow:
    image: mlflow
    ports:
      - "5001:5000"
  grafana:
    image: grafana/grafana
    ports:
      - "3005:3000"
    volumes:
      - ./grafana:/etc/grafana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32120"/>
            <a:ext cx="26974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6072" y="5559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5F46"/>
                </a:solidFill>
              </a:rPr>
              <a:t>Model Artifacts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" y="5797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</a:rPr>
              <a:t>model.pkl (Scikit-Learn TF-IDF + Logistic Regression, 339 KB)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5532120"/>
            <a:ext cx="26974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56432" y="5559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5F46"/>
                </a:solidFill>
              </a:rPr>
              <a:t>Schema Validation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6432" y="5797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</a:rPr>
              <a:t>Pydantic BaseModel with strict headline string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5532120"/>
            <a:ext cx="26974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36792" y="5559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5F46"/>
                </a:solidFill>
              </a:rPr>
              <a:t>REST Endpoints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6792" y="5797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</a:rPr>
              <a:t>GET /, GET /health, POST /predict, GET /docs (Swagger UI)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5532120"/>
            <a:ext cx="2697480" cy="5669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17152" y="555955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5F46"/>
                </a:solidFill>
              </a:rPr>
              <a:t>Cloud Deployment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7152" y="5797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</a:rPr>
              <a:t>Render Cloud live service + Docker containerized runtime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5. Interface for Model Invocation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FastAPI Swagger Documentation · Live Prediction Form · Client cURL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API Deployment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5577840" cy="47091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17320"/>
            <a:ext cx="5577840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1508760"/>
            <a:ext cx="100584" cy="100584"/>
          </a:xfrm>
          <a:prstGeom prst="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4944" y="1508760"/>
            <a:ext cx="100584" cy="100584"/>
          </a:xfrm>
          <a:prstGeom prst="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1508760"/>
            <a:ext cx="100584" cy="100584"/>
          </a:xfrm>
          <a:prstGeom prst="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14721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FastAPI REST API Docs — http://localhost:8000/docs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1810512"/>
            <a:ext cx="5486400" cy="292608"/>
          </a:xfrm>
          <a:prstGeom prst="rect">
            <a:avLst/>
          </a:prstGeom>
          <a:solidFill>
            <a:srgbClr val="496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1810512"/>
            <a:ext cx="50292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2064" y="1837944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5" y="1837944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hlinkClick r:id="rId2"/>
              </a:rPr>
              <a:t>/predict — AG News Topic Inference Endpoint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773168"/>
            <a:ext cx="5486400" cy="292608"/>
          </a:xfrm>
          <a:prstGeom prst="rect">
            <a:avLst/>
          </a:prstGeom>
          <a:solidFill>
            <a:srgbClr val="1A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502920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064" y="4800600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4800600"/>
            <a:ext cx="48920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/health — Service Readiness &amp; Model Probe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5486400" cy="292608"/>
          </a:xfrm>
          <a:prstGeom prst="rect">
            <a:avLst/>
          </a:prstGeom>
          <a:solidFill>
            <a:srgbClr val="1A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50292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064" y="5148072"/>
            <a:ext cx="484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5" y="5148072"/>
            <a:ext cx="48920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 — Interactive Web UI (HTML / Jinja2</a:t>
            </a:r>
            <a:r>
              <a:rPr sz="1000" b="1" i="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139696"/>
            <a:ext cx="5486400" cy="20116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2157984"/>
            <a:ext cx="5303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Request Payload: PredictionRequest (application/json)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59152"/>
            <a:ext cx="5486400" cy="65836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5321808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FB950"/>
                </a:solidFill>
              </a:rPr>
              <a:t>{
  "text": "Nvidia launches Blackwell GPU architecture for enterprise AI"
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054096"/>
            <a:ext cx="5486400" cy="20116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3072384"/>
            <a:ext cx="5303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Response Payload: PredictionResponse (200 OK)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273552"/>
            <a:ext cx="5486400" cy="1444752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3310128"/>
            <a:ext cx="532180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950"/>
                </a:solidFill>
              </a:rPr>
              <a:t>{
  "text": "Nvidia launches Blackwell GPU architecture...",
  "prediction": "Sci/Tech",
  "class_id": 3,
  "confidence": 0.8988,
  "probabilities": {
    "World": 0.0125, "Sports": 0.0084,
    "Business": 0.0803, "Sci/Tech": 0.8988
  }
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468112"/>
            <a:ext cx="5486400" cy="6400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6072" y="550468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</a:rPr>
              <a:t>curl -X POST http://localhost:8000/predict \
  -H "Content-Type: application/json" \
  -d '{"text": "Nvidia launches Blackwell GPU for data centers"}'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1417320"/>
            <a:ext cx="5669280" cy="47091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1417320"/>
            <a:ext cx="56692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27648" y="1508760"/>
            <a:ext cx="100584" cy="100584"/>
          </a:xfrm>
          <a:prstGeom prst="rect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55664" y="1508760"/>
            <a:ext cx="100584" cy="100584"/>
          </a:xfrm>
          <a:prstGeom prst="rect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83680" y="1508760"/>
            <a:ext cx="100584" cy="100584"/>
          </a:xfrm>
          <a:prstGeom prst="rect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720840" y="147218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Streamlit Prediction Panel — http://localhost:8501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764792"/>
            <a:ext cx="1417320" cy="436168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91072" y="1828800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F46"/>
                </a:solidFill>
              </a:rPr>
              <a:t>Configuration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2148840"/>
            <a:ext cx="1261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</a:rPr>
              <a:t>Active Model
Model v2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91072" y="2587752"/>
            <a:ext cx="1261872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0216" y="2615184"/>
            <a:ext cx="1243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 Model v2  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6" y="2871216"/>
            <a:ext cx="12435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</a:rPr>
              <a:t>  Model v1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1072" y="320040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</a:rPr>
              <a:t>Threshold
0.50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6679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Input article text for classification: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26679" y="2139696"/>
            <a:ext cx="4023360" cy="77724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790688" y="2176272"/>
            <a:ext cx="39136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</a:rPr>
              <a:t>Nvidia launches Blackwell GPU architecture for
enterprise compute workloads, reporting high throughput…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26679" y="2980944"/>
            <a:ext cx="1371600" cy="2926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735824" y="3008376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hlinkClick r:id="rId5"/>
              </a:rPr>
              <a:t>Classify Text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26679" y="3364992"/>
            <a:ext cx="4023360" cy="1417320"/>
          </a:xfrm>
          <a:prstGeom prst="rect">
            <a:avLst/>
          </a:prstGeom>
          <a:solidFill>
            <a:srgbClr val="EFFDF6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18120" y="341985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Predicted Class: Sci / Tech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18120" y="371246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Confidence Score: 94.7%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398678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Inference Latency:   0.21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18120" y="424281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Serving Model:   v2 (Production Candidate)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18120" y="449884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Pipeline:   Sublinear TF-IDF + LR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26679" y="486460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</a:rPr>
              <a:t>Class Probability Distribution: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26679" y="5120640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</a:rPr>
              <a:t>Sci/Tech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2208" y="5148072"/>
            <a:ext cx="2857591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1425519" y="512064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94.7%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26679" y="532180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</a:rPr>
              <a:t>Business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22208" y="5349240"/>
            <a:ext cx="93543" cy="137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661471" y="532180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2937"/>
                </a:solidFill>
              </a:rPr>
              <a:t>3.1%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26679" y="5522976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</a:rPr>
              <a:t>Sports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22208" y="5550408"/>
            <a:ext cx="42245" cy="137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610173" y="5522976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2937"/>
                </a:solidFill>
              </a:rPr>
              <a:t>1.4%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26679" y="572414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</a:rPr>
              <a:t>World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22208" y="5751576"/>
            <a:ext cx="24140" cy="1371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592068" y="5724144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2937"/>
                </a:solidFill>
              </a:rPr>
              <a:t>0.8%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8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310128"/>
            <a:ext cx="12188952" cy="27432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Part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Versioning &amp;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ED7AA"/>
                </a:solidFill>
              </a:rPr>
              <a:t>Model Lifecycle Management, Data Drift Detection, and Monitoring Stacks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7498079" cy="402336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968496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MLflow Model Registry — Lifecycle management, staging tags, and artifact logging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07408"/>
            <a:ext cx="7498079" cy="402336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4398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 Visuals — Interactive Streamlit application and Grafana monitoring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882896"/>
            <a:ext cx="7498079" cy="402336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919472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Insights &amp; Recommendations — Operational learnings and continuous monitoring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58384"/>
            <a:ext cx="7498079" cy="402336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Limitations &amp; Future Work — Architectural trade-offs and future extensions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78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MLOps Monitoring  ·  420-976-VA  ·  Rahime Nacak  ·  Vanier College  ·  Fall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6. MLflow Model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Lifecycle Management · Staged Model Tagging · Artifact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783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MLOps Monitoring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11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4389120" cy="47091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17320"/>
            <a:ext cx="4389120" cy="3657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4630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Model Lifecycle Protocol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92024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1920240"/>
            <a:ext cx="109728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197510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1. Train &amp;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1284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Model v1 (Baseline) &amp; Model v2 (Retrained)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5176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2651760"/>
            <a:ext cx="109728" cy="65836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7066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2. Parameter 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94436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TF-IDF (1,3)-grams, C=2.5, balanced weights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8328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383280"/>
            <a:ext cx="109728" cy="65836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343814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3. Metric Auditing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7588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Acc: 95.7% | F1: 95.4% | Latency: 0.32 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114800"/>
            <a:ext cx="109728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416966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4. Stage Promotion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40740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v1: Archived_Baseline | v2: Production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4632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846320"/>
            <a:ext cx="109728" cy="65836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49011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</a:rPr>
              <a:t>5. Artifact Storage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model.pkl, confusion matrices, signatures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623560"/>
            <a:ext cx="4206240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568756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  <a:hlinkClick r:id="rId2"/>
              </a:rPr>
              <a:t>Registry UI: http://localhost:5001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83480" y="1417320"/>
            <a:ext cx="6766560" cy="47091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983480" y="1417320"/>
            <a:ext cx="67665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20640" y="1463040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MLflow Registry Interface (AGNews-TopicClassifier)</a:t>
            </a:r>
          </a:p>
        </p:txBody>
      </p:sp>
      <p:pic>
        <p:nvPicPr>
          <p:cNvPr id="39" name="Picture 38" descr="m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10512"/>
            <a:ext cx="667512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7. Dashboard Visuals — Streamlit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Interactive Model Selection · Live Inference · Drift Visualization (Port 8501)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MLOps Monitoring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12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4114800" cy="47091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17320"/>
            <a:ext cx="411480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4630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Application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20240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Tab 1: Dataset Exploration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v1 vs v2 class balance visualizations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Document character length distributions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Tab 2: Model Serving &amp; Live Test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Dynamic switching between v1 and v2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Real-time class probability breakdown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Per-sample latency metrics (~0.2ms)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Tab 3: Model Comparison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Multi-metric performance radar plots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Tab 4: SQLite Inference Audit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Historical log of executed 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623560"/>
            <a:ext cx="3931920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6875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  <a:hlinkClick r:id="rId2"/>
              </a:rPr>
              <a:t>Launch: http://localhost:8501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417320"/>
            <a:ext cx="7040880" cy="47091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09160" y="1417320"/>
            <a:ext cx="70408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0" y="1463040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Streamlit User Interface &amp; Inference Benchmark</a:t>
            </a:r>
          </a:p>
        </p:txBody>
      </p:sp>
      <p:pic>
        <p:nvPicPr>
          <p:cNvPr id="20" name="Picture 19" descr="stream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10512"/>
            <a:ext cx="69494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8. Dashboard Visuals — Grafana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Production Observability · PSI Drift Alerting · Live Telemetry (Port 3005)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MLOps Monitoring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13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4114800" cy="470916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17320"/>
            <a:ext cx="4114800" cy="36576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4630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Monitoring Dashboard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20240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Automated YAML Provisioning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Direct SQLite datasource connection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Accuracy Gauges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Production v2 accuracy: 95.7%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Model v1 under drift: 95.1%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Data Drift Indicator (PSI)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PSI = 0.182 (Covariate shift tracked)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Inference Latency &amp; Telemetry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Average latency: 0.470 ms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Lifecycle model comparison &amp; live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623560"/>
            <a:ext cx="3931920" cy="41148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6875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FB950"/>
                </a:solidFill>
                <a:hlinkClick r:id="rId2"/>
              </a:rPr>
              <a:t>Monitoring: http://localhost:3005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1417320"/>
            <a:ext cx="7040880" cy="47091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09160" y="1417320"/>
            <a:ext cx="7040880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0" y="1463040"/>
            <a:ext cx="6675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Grafana Monitoring Dashboard Panels</a:t>
            </a:r>
          </a:p>
        </p:txBody>
      </p:sp>
      <p:pic>
        <p:nvPicPr>
          <p:cNvPr id="20" name="Picture 19" descr="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10512"/>
            <a:ext cx="69494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Live Demo &amp; Service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Direct Application Links · Containerized Service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DEMO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14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0771632" y="109728"/>
            <a:ext cx="100584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0776" y="128016"/>
            <a:ext cx="987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508760"/>
            <a:ext cx="5394960" cy="15087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1508760"/>
            <a:ext cx="53949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5819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Streamlit Web Application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011680"/>
            <a:ext cx="502920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hlinkClick r:id="rId2"/>
              </a:rPr>
              <a:t>http://localhost:8501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4963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Interactive model selection, single-text prediction, confidence distribution, and drift assessment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508760"/>
            <a:ext cx="5394960" cy="15087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1508760"/>
            <a:ext cx="539496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15819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FastAPI Swagger Documentation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502920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207568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hlinkClick r:id="rId3"/>
              </a:rPr>
              <a:t>http://localhost:8000/docs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963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Interactive REST testing, single &amp; batch (/predict/batch) inference, input validation, and /health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54680"/>
            <a:ext cx="5394960" cy="15087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154680"/>
            <a:ext cx="5394960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2278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MLflow Tracking Server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657600"/>
            <a:ext cx="502920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3721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hlinkClick r:id="rId4"/>
              </a:rPr>
              <a:t>http://localhost:5001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422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Experiment comparative analysis, registered model stages, logged parameters, and artifact storage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154680"/>
            <a:ext cx="5394960" cy="15087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154680"/>
            <a:ext cx="5394960" cy="38404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2278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Grafana Monitoring Dashboard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657600"/>
            <a:ext cx="5029200" cy="411480"/>
          </a:xfrm>
          <a:prstGeom prst="rect">
            <a:avLst/>
          </a:prstGeom>
          <a:solidFill>
            <a:srgbClr val="FFFFFF"/>
          </a:solidFill>
          <a:ln w="15240"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37216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  <a:hlinkClick r:id="rId5"/>
              </a:rPr>
              <a:t>http://localhost:3005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1422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Real-time operational dashboards, Population Stability Index (PSI) drift alarms, and latency metrics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4983480"/>
            <a:ext cx="11064240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5029200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</a:rPr>
              <a:t>Terminal Command: Launch Multi-Service Stack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32180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FB950"/>
                </a:solidFill>
              </a:rPr>
              <a:t># From the project root, launch FastAPI, Streamlit, MLflow, and Grafana in detached mode:
cd "/Users/BlankUser/Desktop/data mining A3" &amp;&amp; docker compose up -d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8. Key Insights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Cross-Assignment Findings · Operational Learnings · Production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77840" cy="2148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557784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536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Quantitative Drift Detection &amp;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65960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Population Stability Index (PSI = 0.1818) detected moderate class distribution 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78024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Vocabulary drift score reached 24.25% with 75.75% shared feature overlap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990088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Sci/Tech category increased to 40% while World and Sports contracted to 15% each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63040"/>
            <a:ext cx="5577840" cy="2148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463040"/>
            <a:ext cx="557784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1536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Targeted Retraining &amp; Performance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Expanded n-gram vocabulary (1,3) with 8,000 features and balanced class weights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78024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Retrained Model v2 achieved 95.69% accuracy on modern shifted news 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0088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Macro F1-score reached 95.41%, delivering strong generalization across all 4 categories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49040"/>
            <a:ext cx="5577840" cy="2148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749040"/>
            <a:ext cx="557784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822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Robust REST API Contract Enforcement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251960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Pydantic schema enforces strict headline string validation on POST /predict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764024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Full 4-class probability distribution returned with high confidence (e.g. 89.9%)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276088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GET /health probe verifies model pipeline memory residency for Docker &amp; cloud orchestration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749040"/>
            <a:ext cx="5577840" cy="2148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63640" y="3749040"/>
            <a:ext cx="5577840" cy="41148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3822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Traceability via MLflow &amp; Docker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251960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Datasets versioned with SHA-256 digest hashes via MLflow Data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764024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Staged model promotion: Model v1 (Archived_Baseline) vs Model v2 (Production)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76088"/>
            <a:ext cx="5349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•  Automated Grafana dashboards provisioned directly via Docker Compose and SQLite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172200"/>
            <a:ext cx="11365992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6208776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Operational Recommendation: Automated CI/CD retraining triggered when PSI &gt; 0.18 or macro F1 drops by &gt;3%.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9. Limitations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Current Architectural Constraints · Planned Production Enhancements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394960" cy="4709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5394960" cy="438912"/>
          </a:xfrm>
          <a:prstGeom prst="rect">
            <a:avLst/>
          </a:prstGeom>
          <a:solidFill>
            <a:srgbClr val="C94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Current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Static Evaluation Sets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Dataset v2 captures discrete shift rather than continuous streaming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Real-world news patterns require dynamic temporal tracking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TF-IDF Vector Space Constraints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Bag-of-words ignores word order and deep semantic context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Cannot capture out-of-vocabulary semantic analogies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SQLite Concurrency Limitations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Single-file database lacks support for high concurrent write volumes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Appropriate for development; requires managed database for scale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Authentication Protocol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FastAPI endpoints operate without token-based authentication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Grafana dashboard uses default administration credentials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463040"/>
            <a:ext cx="5806440" cy="4709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80760" y="1463040"/>
            <a:ext cx="580644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150876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Future Extensions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965960"/>
            <a:ext cx="5623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Transformer-Based Embeddings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Evaluate DistilBERT / RoBERTa for context-aware representation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Projected accuracy improvement of 3-5% across technical classes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Continuous Ingestion Pipeline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Integrate live RSS news streams for real-time inference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Automated scheduled retraining based on continuous drift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CI/CD &amp; Governance Automation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GitHub Actions pipeline triggered by PSI drift alarms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Automated validation gate before promoting models to Production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</a:rPr>
              <a:t>• Cloud Managed Infrastructure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Deploy container services to Google Cloud Run</a:t>
            </a:r>
          </a:p>
          <a:p>
            <a:pPr lvl="1" algn="l">
              <a:spcAft>
                <a:spcPts val="300"/>
              </a:spcAft>
            </a:pPr>
            <a:r>
              <a:rPr sz="1050">
                <a:solidFill>
                  <a:srgbClr val="1F2937"/>
                </a:solidFill>
              </a:rPr>
              <a:t>   – Migrate metrics storage to managed PostgreSQL / BigQuery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11868912" cy="1280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 Use Disclosure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F"/>
                </a:solidFill>
              </a:rPr>
              <a:t>Academic Integrity · AI-Assisted Learning &amp; Development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DISCLOSURE  ·  420-976-VA  ·  Rahime Nacak  ·  Vanier College  ·  Fall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17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8448"/>
            <a:ext cx="11686032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63040"/>
            <a:ext cx="109728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153619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AI-Assisted Tool: Google 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81051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In completing this project, Google Gemini was utilized as an AI-assisted tool strictly to support the learning process, troubleshoot technical challenges, and ensure high code quality across development stages.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5486400" cy="3977639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423160"/>
            <a:ext cx="54864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468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Technical &amp; Architecture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Debugging code errors and tracing complex 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735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Assisted in resolving pipeline errors and Docker environment path issues.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67328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Clarifying NLP concepts and vectorization theory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Conceptual understanding of TF-IDF, sublinear term weighting, and n-grams.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608576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Configuring MLflow tracking and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560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Guidance on volume mounts, network bridges, and persistent artifact logging.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449824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5229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Refining visualization and dashboard layouts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7972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Design suggestions for Streamlit tab hierarchies and Grafana metric gauges.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423160"/>
            <a:ext cx="5486400" cy="3977639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17920" y="2423160"/>
            <a:ext cx="54864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2468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Implementation &amp; Quality Assurance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926080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299923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FastAPI lifespan handlers and schema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32735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Understanding Pydantic ConfigDict settings and asynchronous server startup.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67328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38404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Reviewing Grafana SQLite datasource connections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Verification of table schemas and SQL query syntax for telemetry panels.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608576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37960" y="468172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Proofreading documentation and technical phrasing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49560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Grammar correction and technical clarity across project deliverables.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449824"/>
            <a:ext cx="51206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37960" y="55229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</a:rPr>
              <a:t>✓  General coding best practices and modularization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57972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Adherence to clean code architecture, error handling, and type hinting.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262872" y="0"/>
            <a:ext cx="2926080" cy="6858000"/>
          </a:xfrm>
          <a:prstGeom prst="rect">
            <a:avLst/>
          </a:prstGeom>
          <a:solidFill>
            <a:srgbClr val="162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566160"/>
            <a:ext cx="12188952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F59E0B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FDBFF"/>
                </a:solidFill>
              </a:rPr>
              <a:t>AG News Topic Classification  ·  End-to-End MLOps Lifecycle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4315968"/>
            <a:ext cx="2377440" cy="411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434340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4315968"/>
            <a:ext cx="237744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434340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API Deployment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315968"/>
            <a:ext cx="2377440" cy="41148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434340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MLOps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Rahime Nacak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6811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FDBFF"/>
                </a:solidFill>
              </a:rPr>
              <a:t>420-976-VA  ·  Data Mining Project  ·  Vanier College  ·  Fall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253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3C5FD"/>
                </a:solidFill>
              </a:rPr>
              <a:t>October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528816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FDBFF"/>
                </a:solidFill>
              </a:rPr>
              <a:t>420-976-VA  ·  Rahime Nacak  ·  Vanier College  ·  Fall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28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2806</Words>
  <Application>Microsoft Macintosh PowerPoint</Application>
  <PresentationFormat>Custom</PresentationFormat>
  <Paragraphs>388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Rahime Nacak (Étudiant)</cp:lastModifiedBy>
  <cp:revision>2</cp:revision>
  <dcterms:created xsi:type="dcterms:W3CDTF">2013-01-27T09:14:16Z</dcterms:created>
  <dcterms:modified xsi:type="dcterms:W3CDTF">2026-10-14T03:57:19Z</dcterms:modified>
  <cp:category/>
</cp:coreProperties>
</file>